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7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EB7B-0C2F-4F67-A482-0F3A77B63BBE}" type="datetimeFigureOut">
              <a:rPr lang="zh-TW" altLang="en-US" smtClean="0"/>
              <a:t>2026/8/7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41303-F144-4102-9ABD-BBC7114D08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0684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C0F7B7-53DB-8791-2F4C-3339DC3B9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24E905-D680-FB48-2F37-1680AF5FF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0FE560-8CE1-7C56-2159-1C34763BD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1DF7-A30B-4AF9-B11D-0493E1E2BA24}" type="datetimeFigureOut">
              <a:rPr lang="zh-TW" altLang="en-US" smtClean="0"/>
              <a:t>2026/8/7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367A9C-02C3-C67B-124D-99857606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BC80EA-B00F-C7A5-0AE7-770626EB2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D3B5-7649-41B2-9FE5-D433635C0B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5026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03C29D-4D87-7E43-0F8A-C961F57C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83FD37-1686-135D-4B7B-6F2F75C5D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E58A4E-EDFB-2041-5D3C-6C4ECA2A3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1DF7-A30B-4AF9-B11D-0493E1E2BA24}" type="datetimeFigureOut">
              <a:rPr lang="zh-TW" altLang="en-US" smtClean="0"/>
              <a:t>2026/8/7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72EBC9-8887-B175-0272-7D532B4B4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AB12B7-22E9-B54D-5639-00E57D6B9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D3B5-7649-41B2-9FE5-D433635C0B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182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B62F25-677E-8B85-4F69-37E2977BC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25710E9-0F57-6AA1-036B-0EAE126A4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A169CD-C25A-E48C-7A84-E2414296A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1DF7-A30B-4AF9-B11D-0493E1E2BA24}" type="datetimeFigureOut">
              <a:rPr lang="zh-TW" altLang="en-US" smtClean="0"/>
              <a:t>2026/8/7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3008A7-1BD6-1B5A-5188-78A9B3245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E4EEF2-32BE-2206-3F77-71AB7C77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D3B5-7649-41B2-9FE5-D433635C0B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1189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015853-DF91-353B-3FA8-4A41E56AD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0DB1AF-1307-02A1-66FB-FCBFEA5237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098A549-294F-DFB0-8F5A-E5C38DC7C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D8E07DE-013C-C9EF-4739-7928543CC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1DF7-A30B-4AF9-B11D-0493E1E2BA24}" type="datetimeFigureOut">
              <a:rPr lang="zh-TW" altLang="en-US" smtClean="0"/>
              <a:t>2026/8/7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11F957-1A04-EB2E-A8BE-C5831369A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4BF11D1-38CD-7D17-F4E2-4B351AB0D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D3B5-7649-41B2-9FE5-D433635C0B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722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685496-AA87-E1B8-1D65-ECAB1EA77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2783BE5-521C-0643-C4C4-25E4AF900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CF8677-4820-94CC-EBA5-7B4624550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BE4F941-F9D3-9930-6280-0612CED683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40A3920-4436-B051-3336-ECDF4FFD6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997AE72-C3DC-25D3-0081-29A007C9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1DF7-A30B-4AF9-B11D-0493E1E2BA24}" type="datetimeFigureOut">
              <a:rPr lang="zh-TW" altLang="en-US" smtClean="0"/>
              <a:t>2026/8/7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90A5188-7B96-F49B-D71E-8B0AADCCD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AD1A7BD-A118-3145-D35A-93721881F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D3B5-7649-41B2-9FE5-D433635C0B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7098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EB8E19-8EEA-E1FB-4E72-71670F2C9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90D850B-5ED2-4E34-8F1A-AF2E1507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1DF7-A30B-4AF9-B11D-0493E1E2BA24}" type="datetimeFigureOut">
              <a:rPr lang="zh-TW" altLang="en-US" smtClean="0"/>
              <a:t>2026/8/7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8484E55-E917-4672-B8FB-A25BC120D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20F171F-DB0C-ED12-051E-1655984E2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D3B5-7649-41B2-9FE5-D433635C0B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067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3BDC3C3-EFBB-81EA-772C-9876578D1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1DF7-A30B-4AF9-B11D-0493E1E2BA24}" type="datetimeFigureOut">
              <a:rPr lang="zh-TW" altLang="en-US" smtClean="0"/>
              <a:t>2026/8/7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1CE8774-047E-46EE-7C4C-2C86E1036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5345DA-6B3D-A2C0-3C4A-99B795E3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D3B5-7649-41B2-9FE5-D433635C0B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522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8C3F93-06B3-817D-734B-5A72FBF34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97F1EE-F1DA-39AC-4295-DE1FFC67F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D99F30C-AC01-8DBD-FF40-34EBDE756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E58718-51C5-0442-6F13-F9B2FD1B7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1DF7-A30B-4AF9-B11D-0493E1E2BA24}" type="datetimeFigureOut">
              <a:rPr lang="zh-TW" altLang="en-US" smtClean="0"/>
              <a:t>2026/8/7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BD07134-FF03-3015-FB2B-287D50BCB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7C453A4-C9E1-1FF7-CA4A-6BF98F885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D3B5-7649-41B2-9FE5-D433635C0B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39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0496C3-9DD6-092A-44A1-5FFF592A9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52CC394-AD19-D48F-E6B5-54E4CF2B20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25B5CE-BC6F-FD59-3979-8F95AD9B5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EEDD313-F56B-CBB2-9CCA-54CD4540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1DF7-A30B-4AF9-B11D-0493E1E2BA24}" type="datetimeFigureOut">
              <a:rPr lang="zh-TW" altLang="en-US" smtClean="0"/>
              <a:t>2026/8/7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80027BA-5501-08C8-0380-A3809250F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A2F4B00-8F37-CECE-14C6-F72F0366D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D3B5-7649-41B2-9FE5-D433635C0B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5749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06FC36-286E-40C1-2834-3264264A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D9BA74C-B9E8-A089-337D-0B4C90CBF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A8FF5D-AF17-68C2-DE70-5A658BA92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1DF7-A30B-4AF9-B11D-0493E1E2BA24}" type="datetimeFigureOut">
              <a:rPr lang="zh-TW" altLang="en-US" smtClean="0"/>
              <a:t>2026/8/7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55B684-2BA1-F062-736D-EA50984A2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43CC26-F597-8730-929F-D1347E2EB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D3B5-7649-41B2-9FE5-D433635C0B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2688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5FDD496-42A2-4428-133E-51BD44ABDB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80E4EB6-F228-3824-9291-A1F972A66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4DE131-5EE6-D3B5-7D42-C7E018790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1DF7-A30B-4AF9-B11D-0493E1E2BA24}" type="datetimeFigureOut">
              <a:rPr lang="zh-TW" altLang="en-US" smtClean="0"/>
              <a:t>2026/8/7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1C4FCE-8350-5521-A735-0B8BD5B67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08D488-4C9F-6348-3131-22D5FD33E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D3B5-7649-41B2-9FE5-D433635C0B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08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ECCD920-9E62-9277-C177-E215F2C84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C39240E-55A3-DDEB-BCB1-682348015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76D923-4561-DDF7-52AA-C79CBA24A4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321DF7-A30B-4AF9-B11D-0493E1E2BA24}" type="datetimeFigureOut">
              <a:rPr lang="zh-TW" altLang="en-US" smtClean="0"/>
              <a:t>2026/8/7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EF4E31-537A-5A0B-7515-240E63071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AF670A-82C4-6929-7213-5B6C416C3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CD3B5-7649-41B2-9FE5-D433635C0B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069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EB74E8EF-1DCB-ADCD-6678-7E1C51194F87}"/>
              </a:ext>
            </a:extLst>
          </p:cNvPr>
          <p:cNvSpPr/>
          <p:nvPr/>
        </p:nvSpPr>
        <p:spPr>
          <a:xfrm>
            <a:off x="3300418" y="5434341"/>
            <a:ext cx="7943592" cy="1087298"/>
          </a:xfrm>
          <a:prstGeom prst="rect">
            <a:avLst/>
          </a:prstGeom>
          <a:solidFill>
            <a:schemeClr val="accent2">
              <a:lumMod val="20000"/>
              <a:lumOff val="8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0AEACDC-21A5-1335-7080-EACD8AF988F8}"/>
              </a:ext>
            </a:extLst>
          </p:cNvPr>
          <p:cNvSpPr/>
          <p:nvPr/>
        </p:nvSpPr>
        <p:spPr>
          <a:xfrm>
            <a:off x="3300418" y="5639942"/>
            <a:ext cx="875057" cy="654950"/>
          </a:xfrm>
          <a:prstGeom prst="rect">
            <a:avLst/>
          </a:prstGeom>
          <a:solidFill>
            <a:schemeClr val="accent2">
              <a:lumMod val="20000"/>
              <a:lumOff val="8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路線</a:t>
            </a:r>
            <a:r>
              <a:rPr lang="en-US" altLang="zh-TW" dirty="0">
                <a:solidFill>
                  <a:schemeClr val="tx1"/>
                </a:solidFill>
              </a:rPr>
              <a:t>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39C4F9-043D-ED8E-5456-CCF50ACCC847}"/>
              </a:ext>
            </a:extLst>
          </p:cNvPr>
          <p:cNvSpPr/>
          <p:nvPr/>
        </p:nvSpPr>
        <p:spPr>
          <a:xfrm>
            <a:off x="3302985" y="274118"/>
            <a:ext cx="7801619" cy="2388293"/>
          </a:xfrm>
          <a:prstGeom prst="rect">
            <a:avLst/>
          </a:prstGeom>
          <a:solidFill>
            <a:schemeClr val="accent2">
              <a:lumMod val="20000"/>
              <a:lumOff val="8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DB131A-ACAA-485B-5FB7-E871177D6B2E}"/>
              </a:ext>
            </a:extLst>
          </p:cNvPr>
          <p:cNvSpPr/>
          <p:nvPr/>
        </p:nvSpPr>
        <p:spPr>
          <a:xfrm>
            <a:off x="374907" y="484812"/>
            <a:ext cx="2068456" cy="1674726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主機  </a:t>
            </a:r>
            <a:r>
              <a:rPr lang="en-US" altLang="zh-TW" sz="1600" dirty="0">
                <a:solidFill>
                  <a:schemeClr val="tx1"/>
                </a:solidFill>
              </a:rPr>
              <a:t>api server</a:t>
            </a:r>
          </a:p>
          <a:p>
            <a:pPr algn="ctr"/>
            <a:endParaRPr lang="en-US" altLang="zh-TW" sz="1600" dirty="0">
              <a:solidFill>
                <a:schemeClr val="tx1"/>
              </a:solidFill>
            </a:endParaRPr>
          </a:p>
          <a:p>
            <a:r>
              <a:rPr lang="en-US" altLang="zh-TW" sz="1600" dirty="0">
                <a:solidFill>
                  <a:schemeClr val="tx1"/>
                </a:solidFill>
              </a:rPr>
              <a:t>4.</a:t>
            </a:r>
            <a:r>
              <a:rPr lang="zh-TW" altLang="en-US" sz="1600" dirty="0">
                <a:solidFill>
                  <a:schemeClr val="tx1"/>
                </a:solidFill>
              </a:rPr>
              <a:t> 判斷模型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600" dirty="0">
                <a:solidFill>
                  <a:schemeClr val="tx1"/>
                </a:solidFill>
              </a:rPr>
              <a:t>OCR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tx1"/>
                </a:solidFill>
              </a:rPr>
              <a:t>公母模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tx1"/>
                </a:solidFill>
              </a:rPr>
              <a:t>瑕疵，等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4E2D51-7611-149D-CC89-D9A4946193CD}"/>
              </a:ext>
            </a:extLst>
          </p:cNvPr>
          <p:cNvSpPr/>
          <p:nvPr/>
        </p:nvSpPr>
        <p:spPr>
          <a:xfrm>
            <a:off x="6962382" y="849567"/>
            <a:ext cx="1469853" cy="6941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1</a:t>
            </a:r>
            <a:r>
              <a:rPr lang="zh-TW" altLang="en-US" sz="1600" dirty="0"/>
              <a:t>號上位機</a:t>
            </a:r>
            <a:endParaRPr lang="en-US" altLang="zh-TW" sz="1600" dirty="0"/>
          </a:p>
          <a:p>
            <a:pPr algn="ctr"/>
            <a:r>
              <a:rPr lang="en-US" altLang="zh-TW" sz="1600" dirty="0"/>
              <a:t>/PLC  IO</a:t>
            </a:r>
            <a:r>
              <a:rPr lang="zh-TW" altLang="en-US" sz="1600" dirty="0"/>
              <a:t>觸發</a:t>
            </a:r>
          </a:p>
        </p:txBody>
      </p: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66898F9D-860A-2367-5A27-42EE70DD7A8D}"/>
              </a:ext>
            </a:extLst>
          </p:cNvPr>
          <p:cNvCxnSpPr>
            <a:cxnSpLocks/>
            <a:stCxn id="6" idx="0"/>
            <a:endCxn id="4" idx="0"/>
          </p:cNvCxnSpPr>
          <p:nvPr/>
        </p:nvCxnSpPr>
        <p:spPr>
          <a:xfrm rot="16200000" flipV="1">
            <a:off x="4370845" y="-2476897"/>
            <a:ext cx="364755" cy="6288174"/>
          </a:xfrm>
          <a:prstGeom prst="bentConnector3">
            <a:avLst>
              <a:gd name="adj1" fmla="val 162672"/>
            </a:avLst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D41B1C5C-5651-C3C3-0D4E-4D321A1DEB44}"/>
              </a:ext>
            </a:extLst>
          </p:cNvPr>
          <p:cNvCxnSpPr>
            <a:cxnSpLocks/>
            <a:stCxn id="4" idx="2"/>
            <a:endCxn id="6" idx="2"/>
          </p:cNvCxnSpPr>
          <p:nvPr/>
        </p:nvCxnSpPr>
        <p:spPr>
          <a:xfrm rot="5400000" flipH="1" flipV="1">
            <a:off x="4245312" y="-1292459"/>
            <a:ext cx="615820" cy="6288174"/>
          </a:xfrm>
          <a:prstGeom prst="bentConnector3">
            <a:avLst>
              <a:gd name="adj1" fmla="val -37121"/>
            </a:avLst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5FC3FF-6359-C089-AB57-909DB3435957}"/>
              </a:ext>
            </a:extLst>
          </p:cNvPr>
          <p:cNvSpPr txBox="1"/>
          <p:nvPr/>
        </p:nvSpPr>
        <p:spPr>
          <a:xfrm>
            <a:off x="9123795" y="1270052"/>
            <a:ext cx="12001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2.</a:t>
            </a:r>
            <a:r>
              <a:rPr lang="zh-TW" altLang="en-US" sz="1600" dirty="0"/>
              <a:t> </a:t>
            </a:r>
            <a:r>
              <a:rPr lang="en-US" altLang="zh-TW" sz="1600" dirty="0"/>
              <a:t>Camera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E308D94-457B-DFBB-84EB-7AE9E2B1ACD1}"/>
              </a:ext>
            </a:extLst>
          </p:cNvPr>
          <p:cNvSpPr txBox="1"/>
          <p:nvPr/>
        </p:nvSpPr>
        <p:spPr>
          <a:xfrm>
            <a:off x="4020110" y="251966"/>
            <a:ext cx="30209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3.</a:t>
            </a:r>
            <a:r>
              <a:rPr lang="zh-TW" altLang="en-US" sz="1600" dirty="0"/>
              <a:t> </a:t>
            </a:r>
            <a:r>
              <a:rPr lang="en-US" altLang="zh-TW" sz="1600" dirty="0"/>
              <a:t>TCP</a:t>
            </a:r>
            <a:r>
              <a:rPr lang="zh-TW" altLang="en-US" sz="1600" dirty="0"/>
              <a:t> </a:t>
            </a:r>
            <a:r>
              <a:rPr lang="en-US" altLang="zh-TW" sz="1600" dirty="0"/>
              <a:t>/</a:t>
            </a:r>
            <a:r>
              <a:rPr lang="zh-TW" altLang="en-US" sz="1600" dirty="0"/>
              <a:t> </a:t>
            </a:r>
            <a:r>
              <a:rPr lang="en-US" altLang="zh-TW" sz="1600" dirty="0"/>
              <a:t>http</a:t>
            </a:r>
            <a:r>
              <a:rPr lang="zh-TW" altLang="en-US" sz="1600" dirty="0"/>
              <a:t> 圖像通知  站點通知</a:t>
            </a:r>
          </a:p>
        </p:txBody>
      </p:sp>
      <p:sp>
        <p:nvSpPr>
          <p:cNvPr id="24" name="笑臉 23">
            <a:extLst>
              <a:ext uri="{FF2B5EF4-FFF2-40B4-BE49-F238E27FC236}">
                <a16:creationId xmlns:a16="http://schemas.microsoft.com/office/drawing/2014/main" id="{646D6106-4191-5178-CB14-FFAA7A22763F}"/>
              </a:ext>
            </a:extLst>
          </p:cNvPr>
          <p:cNvSpPr/>
          <p:nvPr/>
        </p:nvSpPr>
        <p:spPr>
          <a:xfrm>
            <a:off x="9466915" y="2096432"/>
            <a:ext cx="563444" cy="451198"/>
          </a:xfrm>
          <a:prstGeom prst="smileyFac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051AA088-B085-4E77-CB16-6719776D0CC0}"/>
              </a:ext>
            </a:extLst>
          </p:cNvPr>
          <p:cNvCxnSpPr>
            <a:cxnSpLocks/>
            <a:stCxn id="24" idx="0"/>
            <a:endCxn id="21" idx="2"/>
          </p:cNvCxnSpPr>
          <p:nvPr/>
        </p:nvCxnSpPr>
        <p:spPr>
          <a:xfrm flipH="1" flipV="1">
            <a:off x="9723864" y="1608606"/>
            <a:ext cx="24773" cy="48782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F3F6863-0DC8-4D90-6688-516F66CE6370}"/>
              </a:ext>
            </a:extLst>
          </p:cNvPr>
          <p:cNvSpPr txBox="1"/>
          <p:nvPr/>
        </p:nvSpPr>
        <p:spPr>
          <a:xfrm>
            <a:off x="10019227" y="2152754"/>
            <a:ext cx="8707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1.</a:t>
            </a:r>
            <a:r>
              <a:rPr lang="zh-TW" altLang="en-US" sz="1600" dirty="0"/>
              <a:t> 物件</a:t>
            </a:r>
            <a:endParaRPr lang="en-US" altLang="zh-TW" sz="16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6300DEC-9763-1B08-7EFB-322C2C9C4CBA}"/>
              </a:ext>
            </a:extLst>
          </p:cNvPr>
          <p:cNvSpPr txBox="1"/>
          <p:nvPr/>
        </p:nvSpPr>
        <p:spPr>
          <a:xfrm>
            <a:off x="3626218" y="1990261"/>
            <a:ext cx="30209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5.</a:t>
            </a:r>
            <a:r>
              <a:rPr lang="zh-TW" altLang="en-US" sz="1600" dirty="0"/>
              <a:t> </a:t>
            </a:r>
            <a:r>
              <a:rPr lang="en-US" altLang="zh-TW" sz="1600" dirty="0"/>
              <a:t>TCP</a:t>
            </a:r>
            <a:r>
              <a:rPr lang="zh-TW" altLang="en-US" sz="1600" dirty="0"/>
              <a:t> </a:t>
            </a:r>
            <a:r>
              <a:rPr lang="en-US" altLang="zh-TW" sz="1600" dirty="0"/>
              <a:t>/</a:t>
            </a:r>
            <a:r>
              <a:rPr lang="zh-TW" altLang="en-US" sz="1600" dirty="0"/>
              <a:t> </a:t>
            </a:r>
            <a:r>
              <a:rPr lang="en-US" altLang="zh-TW" sz="1600" dirty="0"/>
              <a:t>http</a:t>
            </a:r>
            <a:r>
              <a:rPr lang="zh-TW" altLang="en-US" sz="1600" dirty="0"/>
              <a:t> 判斷通知  站點通知</a:t>
            </a:r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F9877D91-8049-15F0-6C09-0774A3C7E803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8402927" y="614653"/>
            <a:ext cx="201854" cy="246892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34653195-37DD-EFAC-6731-EC0775B1ACE5}"/>
              </a:ext>
            </a:extLst>
          </p:cNvPr>
          <p:cNvSpPr txBox="1"/>
          <p:nvPr/>
        </p:nvSpPr>
        <p:spPr>
          <a:xfrm>
            <a:off x="8604781" y="445376"/>
            <a:ext cx="2811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6.</a:t>
            </a:r>
            <a:r>
              <a:rPr lang="zh-TW" altLang="en-US" sz="1600" dirty="0"/>
              <a:t> 根據判斷通知，執行動作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7D3840D-14B1-167D-0C4F-FA30D20E2D56}"/>
              </a:ext>
            </a:extLst>
          </p:cNvPr>
          <p:cNvSpPr txBox="1"/>
          <p:nvPr/>
        </p:nvSpPr>
        <p:spPr>
          <a:xfrm>
            <a:off x="7203794" y="5829357"/>
            <a:ext cx="1287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n</a:t>
            </a:r>
            <a:r>
              <a:rPr lang="zh-TW" altLang="en-US" sz="1600" dirty="0"/>
              <a:t>號 上位機</a:t>
            </a:r>
            <a:endParaRPr lang="en-US" altLang="zh-TW" sz="1600" dirty="0"/>
          </a:p>
          <a:p>
            <a:endParaRPr lang="zh-TW" altLang="en-US" sz="1600" dirty="0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C46A2EEB-30A5-238D-2C0A-71770D215441}"/>
              </a:ext>
            </a:extLst>
          </p:cNvPr>
          <p:cNvCxnSpPr>
            <a:stCxn id="21" idx="1"/>
            <a:endCxn id="6" idx="3"/>
          </p:cNvCxnSpPr>
          <p:nvPr/>
        </p:nvCxnSpPr>
        <p:spPr>
          <a:xfrm flipH="1" flipV="1">
            <a:off x="8432235" y="1196643"/>
            <a:ext cx="691560" cy="24268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F2847459-D831-8BDB-CB2B-2C1BD43A2447}"/>
              </a:ext>
            </a:extLst>
          </p:cNvPr>
          <p:cNvSpPr/>
          <p:nvPr/>
        </p:nvSpPr>
        <p:spPr>
          <a:xfrm>
            <a:off x="3302985" y="824499"/>
            <a:ext cx="798857" cy="654950"/>
          </a:xfrm>
          <a:prstGeom prst="rect">
            <a:avLst/>
          </a:prstGeom>
          <a:solidFill>
            <a:schemeClr val="accent2">
              <a:lumMod val="20000"/>
              <a:lumOff val="8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路線</a:t>
            </a:r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20BB177B-A4A3-DC0B-5DE1-A3DA401EB248}"/>
              </a:ext>
            </a:extLst>
          </p:cNvPr>
          <p:cNvSpPr txBox="1"/>
          <p:nvPr/>
        </p:nvSpPr>
        <p:spPr>
          <a:xfrm>
            <a:off x="7305431" y="5080739"/>
            <a:ext cx="6416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……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35D2363-4A57-57BE-E970-D994C2454074}"/>
              </a:ext>
            </a:extLst>
          </p:cNvPr>
          <p:cNvSpPr/>
          <p:nvPr/>
        </p:nvSpPr>
        <p:spPr>
          <a:xfrm>
            <a:off x="3302985" y="2808153"/>
            <a:ext cx="7801619" cy="2388293"/>
          </a:xfrm>
          <a:prstGeom prst="rect">
            <a:avLst/>
          </a:prstGeom>
          <a:solidFill>
            <a:schemeClr val="accent2">
              <a:lumMod val="20000"/>
              <a:lumOff val="8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C3D91B8-9CC7-EBE8-6741-6767B901548D}"/>
              </a:ext>
            </a:extLst>
          </p:cNvPr>
          <p:cNvSpPr/>
          <p:nvPr/>
        </p:nvSpPr>
        <p:spPr>
          <a:xfrm>
            <a:off x="6962382" y="3383602"/>
            <a:ext cx="1469853" cy="6941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2</a:t>
            </a:r>
            <a:r>
              <a:rPr lang="zh-TW" altLang="en-US" sz="1600" dirty="0"/>
              <a:t>號上位機</a:t>
            </a:r>
            <a:endParaRPr lang="en-US" altLang="zh-TW" sz="1600" dirty="0"/>
          </a:p>
          <a:p>
            <a:pPr algn="ctr"/>
            <a:r>
              <a:rPr lang="en-US" altLang="zh-TW" sz="1600" dirty="0"/>
              <a:t>/PLC  IO</a:t>
            </a:r>
            <a:r>
              <a:rPr lang="zh-TW" altLang="en-US" sz="1600" dirty="0"/>
              <a:t>觸發</a:t>
            </a: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34AE9A75-F742-624E-C79B-ACA3099EF881}"/>
              </a:ext>
            </a:extLst>
          </p:cNvPr>
          <p:cNvSpPr txBox="1"/>
          <p:nvPr/>
        </p:nvSpPr>
        <p:spPr>
          <a:xfrm>
            <a:off x="9123795" y="3804087"/>
            <a:ext cx="12001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2.</a:t>
            </a:r>
            <a:r>
              <a:rPr lang="zh-TW" altLang="en-US" sz="1600" dirty="0"/>
              <a:t> </a:t>
            </a:r>
            <a:r>
              <a:rPr lang="en-US" altLang="zh-TW" sz="1600" dirty="0"/>
              <a:t>Camera</a:t>
            </a: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130D4429-E5B9-6BB3-DD65-BE85B214E84F}"/>
              </a:ext>
            </a:extLst>
          </p:cNvPr>
          <p:cNvSpPr txBox="1"/>
          <p:nvPr/>
        </p:nvSpPr>
        <p:spPr>
          <a:xfrm>
            <a:off x="3983986" y="2984281"/>
            <a:ext cx="30209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3.</a:t>
            </a:r>
            <a:r>
              <a:rPr lang="zh-TW" altLang="en-US" sz="1600" dirty="0"/>
              <a:t> </a:t>
            </a:r>
            <a:r>
              <a:rPr lang="en-US" altLang="zh-TW" sz="1600" dirty="0"/>
              <a:t>TCP</a:t>
            </a:r>
            <a:r>
              <a:rPr lang="zh-TW" altLang="en-US" sz="1600" dirty="0"/>
              <a:t> </a:t>
            </a:r>
            <a:r>
              <a:rPr lang="en-US" altLang="zh-TW" sz="1600" dirty="0"/>
              <a:t>/</a:t>
            </a:r>
            <a:r>
              <a:rPr lang="zh-TW" altLang="en-US" sz="1600" dirty="0"/>
              <a:t> </a:t>
            </a:r>
            <a:r>
              <a:rPr lang="en-US" altLang="zh-TW" sz="1600" dirty="0"/>
              <a:t>http</a:t>
            </a:r>
            <a:r>
              <a:rPr lang="zh-TW" altLang="en-US" sz="1600" dirty="0"/>
              <a:t> 圖像通知  站點通知</a:t>
            </a:r>
          </a:p>
        </p:txBody>
      </p:sp>
      <p:sp>
        <p:nvSpPr>
          <p:cNvPr id="84" name="笑臉 83">
            <a:extLst>
              <a:ext uri="{FF2B5EF4-FFF2-40B4-BE49-F238E27FC236}">
                <a16:creationId xmlns:a16="http://schemas.microsoft.com/office/drawing/2014/main" id="{5F8624CB-DE3F-718B-7FD0-1B1B756DF4A6}"/>
              </a:ext>
            </a:extLst>
          </p:cNvPr>
          <p:cNvSpPr/>
          <p:nvPr/>
        </p:nvSpPr>
        <p:spPr>
          <a:xfrm>
            <a:off x="9466915" y="4630467"/>
            <a:ext cx="563444" cy="451198"/>
          </a:xfrm>
          <a:prstGeom prst="smileyFac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5C5B70A0-BD74-FB49-97E8-C355C1A5D31C}"/>
              </a:ext>
            </a:extLst>
          </p:cNvPr>
          <p:cNvCxnSpPr>
            <a:cxnSpLocks/>
            <a:stCxn id="84" idx="0"/>
            <a:endCxn id="82" idx="2"/>
          </p:cNvCxnSpPr>
          <p:nvPr/>
        </p:nvCxnSpPr>
        <p:spPr>
          <a:xfrm flipH="1" flipV="1">
            <a:off x="9723864" y="4142641"/>
            <a:ext cx="24773" cy="48782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1E6034CA-D2AD-A2EE-A3E8-C0E64D7A9F38}"/>
              </a:ext>
            </a:extLst>
          </p:cNvPr>
          <p:cNvSpPr txBox="1"/>
          <p:nvPr/>
        </p:nvSpPr>
        <p:spPr>
          <a:xfrm>
            <a:off x="10019227" y="4686789"/>
            <a:ext cx="8707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1.</a:t>
            </a:r>
            <a:r>
              <a:rPr lang="zh-TW" altLang="en-US" sz="1600" dirty="0"/>
              <a:t> 物件</a:t>
            </a:r>
            <a:endParaRPr lang="en-US" altLang="zh-TW" sz="1600" dirty="0"/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39FAC290-5432-73C9-6E39-5EFD93CEFCC4}"/>
              </a:ext>
            </a:extLst>
          </p:cNvPr>
          <p:cNvSpPr txBox="1"/>
          <p:nvPr/>
        </p:nvSpPr>
        <p:spPr>
          <a:xfrm>
            <a:off x="3626218" y="4524296"/>
            <a:ext cx="30209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5.</a:t>
            </a:r>
            <a:r>
              <a:rPr lang="zh-TW" altLang="en-US" sz="1600" dirty="0"/>
              <a:t> </a:t>
            </a:r>
            <a:r>
              <a:rPr lang="en-US" altLang="zh-TW" sz="1600" dirty="0"/>
              <a:t>TCP</a:t>
            </a:r>
            <a:r>
              <a:rPr lang="zh-TW" altLang="en-US" sz="1600" dirty="0"/>
              <a:t> </a:t>
            </a:r>
            <a:r>
              <a:rPr lang="en-US" altLang="zh-TW" sz="1600" dirty="0"/>
              <a:t>/</a:t>
            </a:r>
            <a:r>
              <a:rPr lang="zh-TW" altLang="en-US" sz="1600" dirty="0"/>
              <a:t> </a:t>
            </a:r>
            <a:r>
              <a:rPr lang="en-US" altLang="zh-TW" sz="1600" dirty="0"/>
              <a:t>http</a:t>
            </a:r>
            <a:r>
              <a:rPr lang="zh-TW" altLang="en-US" sz="1600" dirty="0"/>
              <a:t> 判斷通知  站點通知</a:t>
            </a:r>
          </a:p>
        </p:txBody>
      </p: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2D768B3D-3FDE-3441-D6A7-07008D8E809E}"/>
              </a:ext>
            </a:extLst>
          </p:cNvPr>
          <p:cNvCxnSpPr>
            <a:cxnSpLocks/>
            <a:endCxn id="89" idx="1"/>
          </p:cNvCxnSpPr>
          <p:nvPr/>
        </p:nvCxnSpPr>
        <p:spPr>
          <a:xfrm flipV="1">
            <a:off x="8402927" y="3148688"/>
            <a:ext cx="201854" cy="246892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7D83A97F-33DC-C04B-9388-F0655D6585B4}"/>
              </a:ext>
            </a:extLst>
          </p:cNvPr>
          <p:cNvSpPr txBox="1"/>
          <p:nvPr/>
        </p:nvSpPr>
        <p:spPr>
          <a:xfrm>
            <a:off x="8604781" y="2979411"/>
            <a:ext cx="2811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6.</a:t>
            </a:r>
            <a:r>
              <a:rPr lang="zh-TW" altLang="en-US" sz="1600" dirty="0"/>
              <a:t> 根據判斷通知，執行動作</a:t>
            </a:r>
          </a:p>
        </p:txBody>
      </p: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DDA7CA80-D0C4-4958-D8D3-21F9F0BEC760}"/>
              </a:ext>
            </a:extLst>
          </p:cNvPr>
          <p:cNvCxnSpPr>
            <a:stCxn id="82" idx="1"/>
            <a:endCxn id="81" idx="3"/>
          </p:cNvCxnSpPr>
          <p:nvPr/>
        </p:nvCxnSpPr>
        <p:spPr>
          <a:xfrm flipH="1" flipV="1">
            <a:off x="8432235" y="3730678"/>
            <a:ext cx="691560" cy="24268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矩形 90">
            <a:extLst>
              <a:ext uri="{FF2B5EF4-FFF2-40B4-BE49-F238E27FC236}">
                <a16:creationId xmlns:a16="http://schemas.microsoft.com/office/drawing/2014/main" id="{96993FDB-59F2-3CC4-4FC2-E7019DE10624}"/>
              </a:ext>
            </a:extLst>
          </p:cNvPr>
          <p:cNvSpPr/>
          <p:nvPr/>
        </p:nvSpPr>
        <p:spPr>
          <a:xfrm>
            <a:off x="3300418" y="3674824"/>
            <a:ext cx="798857" cy="654950"/>
          </a:xfrm>
          <a:prstGeom prst="rect">
            <a:avLst/>
          </a:prstGeom>
          <a:solidFill>
            <a:schemeClr val="accent2">
              <a:lumMod val="20000"/>
              <a:lumOff val="8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路線</a:t>
            </a:r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3" name="接點: 肘形 92">
            <a:extLst>
              <a:ext uri="{FF2B5EF4-FFF2-40B4-BE49-F238E27FC236}">
                <a16:creationId xmlns:a16="http://schemas.microsoft.com/office/drawing/2014/main" id="{D1106A2E-1B7F-74FD-E92C-BC890A60DDF7}"/>
              </a:ext>
            </a:extLst>
          </p:cNvPr>
          <p:cNvCxnSpPr>
            <a:cxnSpLocks/>
          </p:cNvCxnSpPr>
          <p:nvPr/>
        </p:nvCxnSpPr>
        <p:spPr>
          <a:xfrm rot="10800000">
            <a:off x="755668" y="2181558"/>
            <a:ext cx="6285367" cy="1280176"/>
          </a:xfrm>
          <a:prstGeom prst="bentConnector3">
            <a:avLst>
              <a:gd name="adj1" fmla="val 100257"/>
            </a:avLst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接點: 肘形 97">
            <a:extLst>
              <a:ext uri="{FF2B5EF4-FFF2-40B4-BE49-F238E27FC236}">
                <a16:creationId xmlns:a16="http://schemas.microsoft.com/office/drawing/2014/main" id="{EC186F82-AEAA-6FA6-55F0-749CC83B3556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406074" y="2203495"/>
            <a:ext cx="7291235" cy="1874258"/>
          </a:xfrm>
          <a:prstGeom prst="bentConnector4">
            <a:avLst>
              <a:gd name="adj1" fmla="val 211"/>
              <a:gd name="adj2" fmla="val 143243"/>
            </a:avLst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914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1CB1B5D-05AE-A93D-CD91-07C2C61D5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247" y="704085"/>
            <a:ext cx="1807140" cy="183670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C76D105-B1AE-918F-B451-B2461DC7B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13" y="704088"/>
            <a:ext cx="1824696" cy="183670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0B45077-F015-0B8C-DB20-94C9386D4B6D}"/>
              </a:ext>
            </a:extLst>
          </p:cNvPr>
          <p:cNvSpPr txBox="1"/>
          <p:nvPr/>
        </p:nvSpPr>
        <p:spPr>
          <a:xfrm>
            <a:off x="2685309" y="112471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抽樣，找出最佳解的背景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5570BD9F-8E47-BD67-C085-F9D0284EA998}"/>
              </a:ext>
            </a:extLst>
          </p:cNvPr>
          <p:cNvCxnSpPr>
            <a:cxnSpLocks/>
          </p:cNvCxnSpPr>
          <p:nvPr/>
        </p:nvCxnSpPr>
        <p:spPr>
          <a:xfrm flipV="1">
            <a:off x="2685309" y="1494042"/>
            <a:ext cx="2766573" cy="2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C72D71C1-E314-2F7B-58F1-677E2F95E0B6}"/>
              </a:ext>
            </a:extLst>
          </p:cNvPr>
          <p:cNvSpPr/>
          <p:nvPr/>
        </p:nvSpPr>
        <p:spPr>
          <a:xfrm>
            <a:off x="5451882" y="704088"/>
            <a:ext cx="1824696" cy="18366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最佳解背景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1A638CFF-F14E-33C4-B491-80E9019EE036}"/>
              </a:ext>
            </a:extLst>
          </p:cNvPr>
          <p:cNvCxnSpPr>
            <a:cxnSpLocks/>
          </p:cNvCxnSpPr>
          <p:nvPr/>
        </p:nvCxnSpPr>
        <p:spPr>
          <a:xfrm flipH="1">
            <a:off x="7276578" y="2098466"/>
            <a:ext cx="2247669" cy="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79836B1-FE7F-B223-6A2D-48F3D55593C5}"/>
              </a:ext>
            </a:extLst>
          </p:cNvPr>
          <p:cNvSpPr txBox="1"/>
          <p:nvPr/>
        </p:nvSpPr>
        <p:spPr>
          <a:xfrm>
            <a:off x="7615582" y="172913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回饋抽樣結果</a:t>
            </a: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19437A63-4E2E-EB38-CC92-6766F66D3CC7}"/>
              </a:ext>
            </a:extLst>
          </p:cNvPr>
          <p:cNvCxnSpPr/>
          <p:nvPr/>
        </p:nvCxnSpPr>
        <p:spPr>
          <a:xfrm>
            <a:off x="7276578" y="1309378"/>
            <a:ext cx="22476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048B150-BF71-999F-71CF-76BD58835A3D}"/>
              </a:ext>
            </a:extLst>
          </p:cNvPr>
          <p:cNvSpPr txBox="1"/>
          <p:nvPr/>
        </p:nvSpPr>
        <p:spPr>
          <a:xfrm>
            <a:off x="8009068" y="96525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相減</a:t>
            </a:r>
            <a:endParaRPr lang="en-US" altLang="zh-TW" dirty="0"/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8648E630-B1D0-2A42-2BA9-E07230B65008}"/>
              </a:ext>
            </a:extLst>
          </p:cNvPr>
          <p:cNvCxnSpPr>
            <a:cxnSpLocks/>
          </p:cNvCxnSpPr>
          <p:nvPr/>
        </p:nvCxnSpPr>
        <p:spPr>
          <a:xfrm flipH="1">
            <a:off x="2685309" y="2098466"/>
            <a:ext cx="2766573" cy="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E44BAAB-F92B-54DA-9B68-603FD65C2742}"/>
              </a:ext>
            </a:extLst>
          </p:cNvPr>
          <p:cNvSpPr txBox="1"/>
          <p:nvPr/>
        </p:nvSpPr>
        <p:spPr>
          <a:xfrm>
            <a:off x="3274138" y="172913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調整最佳解</a:t>
            </a:r>
            <a:endParaRPr lang="en-US" altLang="zh-TW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FB7B8EB-1FB4-88EF-BEEF-E791F97A2AEB}"/>
              </a:ext>
            </a:extLst>
          </p:cNvPr>
          <p:cNvSpPr txBox="1"/>
          <p:nvPr/>
        </p:nvSpPr>
        <p:spPr>
          <a:xfrm>
            <a:off x="1192817" y="3347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全無母模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29788CA-0073-B190-44A6-14F88652F2BA}"/>
              </a:ext>
            </a:extLst>
          </p:cNvPr>
          <p:cNvSpPr txBox="1"/>
          <p:nvPr/>
        </p:nvSpPr>
        <p:spPr>
          <a:xfrm>
            <a:off x="9989235" y="3473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未知圖</a:t>
            </a: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7E679990-6AF3-50BF-07E1-C2E71FDAE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1830" y="3948292"/>
            <a:ext cx="2071972" cy="1824063"/>
          </a:xfrm>
          <a:prstGeom prst="rect">
            <a:avLst/>
          </a:prstGeom>
        </p:spPr>
      </p:pic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B14D0E54-673D-0183-EA40-A205B0470407}"/>
              </a:ext>
            </a:extLst>
          </p:cNvPr>
          <p:cNvCxnSpPr>
            <a:cxnSpLocks/>
          </p:cNvCxnSpPr>
          <p:nvPr/>
        </p:nvCxnSpPr>
        <p:spPr>
          <a:xfrm flipH="1">
            <a:off x="11006846" y="2540786"/>
            <a:ext cx="1" cy="1407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7D29CD1-70F2-BFA0-0716-4F3AEB03BA72}"/>
              </a:ext>
            </a:extLst>
          </p:cNvPr>
          <p:cNvSpPr txBox="1"/>
          <p:nvPr/>
        </p:nvSpPr>
        <p:spPr>
          <a:xfrm>
            <a:off x="10909805" y="3059668"/>
            <a:ext cx="1107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相減結果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22E3C45-4B79-8C6E-9607-9EA085978640}"/>
              </a:ext>
            </a:extLst>
          </p:cNvPr>
          <p:cNvSpPr txBox="1"/>
          <p:nvPr/>
        </p:nvSpPr>
        <p:spPr>
          <a:xfrm>
            <a:off x="9185242" y="30596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回饋結果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4900326F-90BF-1C4B-6BD8-4FB988CE33DB}"/>
              </a:ext>
            </a:extLst>
          </p:cNvPr>
          <p:cNvCxnSpPr/>
          <p:nvPr/>
        </p:nvCxnSpPr>
        <p:spPr>
          <a:xfrm flipV="1">
            <a:off x="10293238" y="2540786"/>
            <a:ext cx="0" cy="1407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圖片 46">
            <a:extLst>
              <a:ext uri="{FF2B5EF4-FFF2-40B4-BE49-F238E27FC236}">
                <a16:creationId xmlns:a16="http://schemas.microsoft.com/office/drawing/2014/main" id="{A32286B5-648B-C634-821A-5908F45781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3570" y="3904093"/>
            <a:ext cx="2179003" cy="1912459"/>
          </a:xfrm>
          <a:prstGeom prst="rect">
            <a:avLst/>
          </a:prstGeom>
        </p:spPr>
      </p:pic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BCDBEF32-92CB-CB30-D7CA-CEE91BC3881F}"/>
              </a:ext>
            </a:extLst>
          </p:cNvPr>
          <p:cNvCxnSpPr>
            <a:stCxn id="31" idx="1"/>
            <a:endCxn id="47" idx="3"/>
          </p:cNvCxnSpPr>
          <p:nvPr/>
        </p:nvCxnSpPr>
        <p:spPr>
          <a:xfrm flipH="1" flipV="1">
            <a:off x="6762573" y="4860323"/>
            <a:ext cx="262925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E326B858-508C-0EA7-E98D-A3EB2304DC99}"/>
              </a:ext>
            </a:extLst>
          </p:cNvPr>
          <p:cNvSpPr txBox="1"/>
          <p:nvPr/>
        </p:nvSpPr>
        <p:spPr>
          <a:xfrm>
            <a:off x="6762573" y="441800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最終，能夠很清晰分出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16A05B2-B29A-CED2-C589-A172C39F405F}"/>
              </a:ext>
            </a:extLst>
          </p:cNvPr>
          <p:cNvSpPr/>
          <p:nvPr/>
        </p:nvSpPr>
        <p:spPr>
          <a:xfrm>
            <a:off x="824043" y="2686224"/>
            <a:ext cx="3560921" cy="3130327"/>
          </a:xfrm>
          <a:prstGeom prst="rect">
            <a:avLst/>
          </a:prstGeom>
          <a:solidFill>
            <a:schemeClr val="accent2">
              <a:lumMod val="40000"/>
              <a:lumOff val="6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>
                <a:solidFill>
                  <a:schemeClr val="tx1"/>
                </a:solidFill>
              </a:rPr>
              <a:t>目標 找出最佳背景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en-US" dirty="0">
                <a:solidFill>
                  <a:schemeClr val="tx1"/>
                </a:solidFill>
              </a:rPr>
              <a:t>能夠通用到任何場景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en-US" dirty="0">
                <a:solidFill>
                  <a:schemeClr val="tx1"/>
                </a:solidFill>
              </a:rPr>
              <a:t>不管是變換鏡片顏色或花紋</a:t>
            </a:r>
          </a:p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685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B9ED86-E0C5-D03E-695F-29D89FDC5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EEE3B7-0AAC-0AC6-788B-16E634100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9758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161</Words>
  <Application>Microsoft Office PowerPoint</Application>
  <PresentationFormat>寬螢幕</PresentationFormat>
  <Paragraphs>38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智能 聯鴻</dc:creator>
  <cp:lastModifiedBy>智能 聯鴻</cp:lastModifiedBy>
  <cp:revision>5</cp:revision>
  <dcterms:created xsi:type="dcterms:W3CDTF">2026-07-29T07:32:50Z</dcterms:created>
  <dcterms:modified xsi:type="dcterms:W3CDTF">2026-08-07T08:26:20Z</dcterms:modified>
</cp:coreProperties>
</file>